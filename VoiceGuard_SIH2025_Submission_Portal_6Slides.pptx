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284" y="8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527980"/>
            <a:ext cx="8534400" cy="1752600"/>
          </a:xfrm>
        </p:spPr>
        <p:txBody>
          <a:bodyPr wrap="square"/>
          <a:lstStyle/>
          <a:p>
            <a:r>
              <a:rPr sz="1600" b="1" dirty="0">
                <a:solidFill>
                  <a:srgbClr val="64748B"/>
                </a:solidFill>
                <a:latin typeface="Arial"/>
              </a:rPr>
              <a:t>SMART INDIA HACKATHON 2025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10245"/>
            <a:ext cx="10363200" cy="2076450"/>
          </a:xfrm>
        </p:spPr>
        <p:txBody>
          <a:bodyPr wrap="square"/>
          <a:lstStyle/>
          <a:p>
            <a:r>
              <a:rPr sz="4200" b="1" dirty="0">
                <a:solidFill>
                  <a:srgbClr val="1E3A8A"/>
                </a:solidFill>
                <a:latin typeface="Arial"/>
              </a:rPr>
              <a:t>VOICEGUARD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  <a:p>
            <a:r>
              <a:rPr sz="1800" b="0" dirty="0">
                <a:solidFill>
                  <a:srgbClr val="334155"/>
                </a:solidFill>
                <a:latin typeface="Arial"/>
              </a:rPr>
              <a:t>AI Real-Time Voice Cloning Impersonation Detection &amp; Prevention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1E3A8A"/>
                </a:solidFill>
                <a:latin typeface="Arial"/>
              </a:rPr>
              <a:t>Problem Statement ID:</a:t>
            </a:r>
            <a:r>
              <a:rPr sz="1600" b="0" dirty="0">
                <a:solidFill>
                  <a:srgbClr val="0F172A"/>
                </a:solidFill>
                <a:latin typeface="Arial"/>
              </a:rPr>
              <a:t> SIH-2025-CYBER-04</a:t>
            </a: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1E3A8A"/>
                </a:solidFill>
                <a:latin typeface="Arial"/>
              </a:rPr>
              <a:t>Problem Statement Title:</a:t>
            </a:r>
            <a:r>
              <a:rPr sz="1600" b="0" dirty="0">
                <a:solidFill>
                  <a:srgbClr val="0F172A"/>
                </a:solidFill>
                <a:latin typeface="Arial"/>
              </a:rPr>
              <a:t> Real-Time AI Voice Cloning &amp; Impersonation Defense</a:t>
            </a: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1E3A8A"/>
                </a:solidFill>
                <a:latin typeface="Arial"/>
              </a:rPr>
              <a:t>Theme:</a:t>
            </a:r>
            <a:r>
              <a:rPr sz="1600" b="0" dirty="0">
                <a:solidFill>
                  <a:srgbClr val="0F172A"/>
                </a:solidFill>
                <a:latin typeface="Arial"/>
              </a:rPr>
              <a:t> Smart Automation / Cyber Security</a:t>
            </a: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1E3A8A"/>
                </a:solidFill>
                <a:latin typeface="Arial"/>
              </a:rPr>
              <a:t>PS Category:</a:t>
            </a:r>
            <a:r>
              <a:rPr sz="1600" b="0" dirty="0">
                <a:solidFill>
                  <a:srgbClr val="0F172A"/>
                </a:solidFill>
                <a:latin typeface="Arial"/>
              </a:rPr>
              <a:t> Software</a:t>
            </a: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1E3A8A"/>
                </a:solidFill>
                <a:latin typeface="Arial"/>
              </a:rPr>
              <a:t>Team ID:</a:t>
            </a:r>
            <a:r>
              <a:rPr sz="1600" b="0" dirty="0">
                <a:solidFill>
                  <a:srgbClr val="0F172A"/>
                </a:solidFill>
                <a:latin typeface="Arial"/>
              </a:rPr>
              <a:t> SIH25-VG-4092</a:t>
            </a: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1E3A8A"/>
                </a:solidFill>
                <a:latin typeface="Arial"/>
              </a:rPr>
              <a:t>Team Name:</a:t>
            </a:r>
            <a:r>
              <a:rPr sz="1600" b="0" dirty="0">
                <a:solidFill>
                  <a:srgbClr val="0F172A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Arial"/>
              </a:rPr>
              <a:t>NeuralGuards</a:t>
            </a:r>
            <a:r>
              <a:rPr sz="1600" b="0" dirty="0">
                <a:solidFill>
                  <a:srgbClr val="0F172A"/>
                </a:solidFill>
                <a:latin typeface="Arial"/>
              </a:rPr>
              <a:t> (</a:t>
            </a:r>
            <a:r>
              <a:rPr sz="1600" b="0" dirty="0" err="1">
                <a:solidFill>
                  <a:srgbClr val="0F172A"/>
                </a:solidFill>
                <a:latin typeface="Arial"/>
              </a:rPr>
              <a:t>VoiceGuard</a:t>
            </a:r>
            <a:r>
              <a:rPr sz="1600" b="0" dirty="0">
                <a:solidFill>
                  <a:srgbClr val="0F172A"/>
                </a:solidFill>
                <a:latin typeface="Arial"/>
              </a:rPr>
              <a:t> Core Team)</a:t>
            </a: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r>
              <a:rPr sz="2600" b="1">
                <a:solidFill>
                  <a:srgbClr val="1E3A8A"/>
                </a:solidFill>
                <a:latin typeface="Arial"/>
              </a:rPr>
              <a:t>VOICEGUARD: REAL-TIME VOICE IMPERSONATION DEFENSE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t>NeuralGuards</a:t>
            </a:r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362" name="Rounded Rectangle 15361"/>
          <p:cNvSpPr/>
          <p:nvPr/>
        </p:nvSpPr>
        <p:spPr>
          <a:xfrm>
            <a:off x="731520" y="1417320"/>
            <a:ext cx="3383280" cy="466344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74320" rIns="228600" bIns="182880" rtlCol="0" anchor="ctr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B91C1C"/>
                </a:solidFill>
                <a:latin typeface="Arial"/>
              </a:rPr>
              <a:t>THE CRITICAL PROBLEM</a:t>
            </a:r>
          </a:p>
          <a:p>
            <a:pPr>
              <a:spcAft>
                <a:spcPts val="1400"/>
              </a:spcAft>
            </a:pPr>
            <a:r>
              <a:rPr sz="1200" b="1">
                <a:solidFill>
                  <a:srgbClr val="334155"/>
                </a:solidFill>
                <a:latin typeface="Arial"/>
              </a:rPr>
              <a:t>Speaker Match != Authentic Voice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0F172A"/>
                </a:solidFill>
                <a:latin typeface="Arial"/>
              </a:rPr>
              <a:t>• Generative AI neural voice cloning (ElevenLabs, Tortoise) imitates acoustic profiles within seconds.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0F172A"/>
                </a:solidFill>
                <a:latin typeface="Arial"/>
              </a:rPr>
              <a:t>• Traditional biometrics only ask 'Who is speaking?' — blindly validating synthetic clones.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0F172A"/>
                </a:solidFill>
                <a:latin typeface="Arial"/>
              </a:rPr>
              <a:t>• Impersonation attacks bypass legacy telecom caller ID and phone-based OTP verification.</a:t>
            </a:r>
          </a:p>
        </p:txBody>
      </p:sp>
      <p:sp>
        <p:nvSpPr>
          <p:cNvPr id="15363" name="Rounded Rectangle 15362"/>
          <p:cNvSpPr/>
          <p:nvPr/>
        </p:nvSpPr>
        <p:spPr>
          <a:xfrm>
            <a:off x="4389120" y="1417320"/>
            <a:ext cx="3383280" cy="466344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74320" rIns="228600" bIns="182880" rtlCol="0" anchor="ctr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1E3A8A"/>
                </a:solidFill>
                <a:latin typeface="Arial"/>
              </a:rPr>
              <a:t>PROPOSED SOLUTION</a:t>
            </a:r>
          </a:p>
          <a:p>
            <a:pPr>
              <a:spcAft>
                <a:spcPts val="1400"/>
              </a:spcAft>
            </a:pPr>
            <a:r>
              <a:rPr sz="1200" b="1">
                <a:solidFill>
                  <a:srgbClr val="334155"/>
                </a:solidFill>
                <a:latin typeface="Arial"/>
              </a:rPr>
              <a:t>Decoupled Verification &amp; Authenticity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0F172A"/>
                </a:solidFill>
                <a:latin typeface="Arial"/>
              </a:rPr>
              <a:t>• Dual-Pipeline ML Architecture: Parallel ECAPA-TDNN speaker verification and DSP/AASIST anti-spoof detection.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0F172A"/>
                </a:solidFill>
                <a:latin typeface="Arial"/>
              </a:rPr>
              <a:t>• Authoritative Deterministic Risk Engine: Synthesizes acoustic evidence without non-deterministic hallucinations.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0F172A"/>
                </a:solidFill>
                <a:latin typeface="Arial"/>
              </a:rPr>
              <a:t>• Real-Time WebSocket SOC Dashboard: Low-latency streaming analysis under 500ms response time.</a:t>
            </a:r>
          </a:p>
        </p:txBody>
      </p:sp>
      <p:sp>
        <p:nvSpPr>
          <p:cNvPr id="15364" name="Rounded Rectangle 15363"/>
          <p:cNvSpPr/>
          <p:nvPr/>
        </p:nvSpPr>
        <p:spPr>
          <a:xfrm>
            <a:off x="8046720" y="1417320"/>
            <a:ext cx="3383280" cy="466344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74320" rIns="228600" bIns="182880" rtlCol="0" anchor="ctr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0D9488"/>
                </a:solidFill>
                <a:latin typeface="Arial"/>
              </a:rPr>
              <a:t>INNOVATION &amp; UNIQUENESS</a:t>
            </a:r>
          </a:p>
          <a:p>
            <a:pPr>
              <a:spcAft>
                <a:spcPts val="1400"/>
              </a:spcAft>
            </a:pPr>
            <a:r>
              <a:rPr sz="1200" b="1">
                <a:solidFill>
                  <a:srgbClr val="334155"/>
                </a:solidFill>
                <a:latin typeface="Arial"/>
              </a:rPr>
              <a:t>Active Defense &amp; Forensic Intelligence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0F172A"/>
                </a:solidFill>
                <a:latin typeface="Arial"/>
              </a:rPr>
              <a:t>• Active Security Challenge: Dynamic phonetic challenge-response phrase pool dynamically modulates risk (+35 on failure).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0F172A"/>
                </a:solidFill>
                <a:latin typeface="Arial"/>
              </a:rPr>
              <a:t>• Explainable 'WHY?' Attribution: Transparent acoustic factor scoring (vocoder roll-off, spectral flux, cycle jitter).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0F172A"/>
                </a:solidFill>
                <a:latin typeface="Arial"/>
              </a:rPr>
              <a:t>• Zero External API Dependency: 100% offline-resilient edge execution with automated PDF forensic reporting.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E3A8A"/>
                </a:solidFill>
                <a:latin typeface="Arial"/>
              </a:rPr>
              <a:t>TECHNICAL APPROACH &amp; SYSTEM ARCHITECTURE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t>NeuralGuards</a:t>
            </a: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410" name="Rounded Rectangle 17409"/>
          <p:cNvSpPr/>
          <p:nvPr/>
        </p:nvSpPr>
        <p:spPr>
          <a:xfrm>
            <a:off x="731520" y="1417320"/>
            <a:ext cx="4389120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spcAft>
                <a:spcPts val="1000"/>
              </a:spcAft>
            </a:pPr>
            <a:r>
              <a:rPr sz="1500" b="1">
                <a:solidFill>
                  <a:srgbClr val="1E3A8A"/>
                </a:solidFill>
                <a:latin typeface="Arial"/>
              </a:rPr>
              <a:t>FULL-STACK TECHNOLOGY MATRIX</a:t>
            </a:r>
          </a:p>
          <a:p>
            <a:r>
              <a:rPr sz="1200" b="1">
                <a:solidFill>
                  <a:srgbClr val="0F172A"/>
                </a:solidFill>
                <a:latin typeface="Arial"/>
              </a:rPr>
              <a:t>ML &amp; Audio DSP: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334155"/>
                </a:solidFill>
                <a:latin typeface="Arial"/>
              </a:rPr>
              <a:t>SpeechBrain ECAPA-TDNN (192-d embeddings), AASIST / Librosa, PyTorch, SciPy Signal Processing</a:t>
            </a:r>
          </a:p>
          <a:p>
            <a:r>
              <a:rPr sz="1200" b="1">
                <a:solidFill>
                  <a:srgbClr val="0F172A"/>
                </a:solidFill>
                <a:latin typeface="Arial"/>
              </a:rPr>
              <a:t>Backend &amp; Risk API: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334155"/>
                </a:solidFill>
                <a:latin typeface="Arial"/>
              </a:rPr>
              <a:t>Python 3.11+, FastAPI (Async WebSocket streaming /ws/analyze), SQLite persistence, NumPy, Pydantic v2</a:t>
            </a:r>
          </a:p>
          <a:p>
            <a:r>
              <a:rPr sz="1200" b="1">
                <a:solidFill>
                  <a:srgbClr val="0F172A"/>
                </a:solidFill>
                <a:latin typeface="Arial"/>
              </a:rPr>
              <a:t>Frontend SOC Dashboard: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334155"/>
                </a:solidFill>
                <a:latin typeface="Arial"/>
              </a:rPr>
              <a:t>Next.js 14+ (App Router), TypeScript, Tailwind CSS v4, Web Audio API (Oscilloscope, FFT, STFT Spectrogram)</a:t>
            </a:r>
          </a:p>
          <a:p>
            <a:r>
              <a:rPr sz="1200" b="1">
                <a:solidFill>
                  <a:srgbClr val="0F172A"/>
                </a:solidFill>
                <a:latin typeface="Arial"/>
              </a:rPr>
              <a:t>Observability &amp; Tools: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334155"/>
                </a:solidFill>
                <a:latin typeface="Arial"/>
              </a:rPr>
              <a:t>D3.js (2D PCA Voice Fingerprint projection), jsPDF (Forensic Reports), Telephony Call Simulator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5394960" y="1417320"/>
            <a:ext cx="60350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rtlCol="0" anchor="ctr"/>
          <a:lstStyle/>
          <a:p>
            <a:pPr algn="ctr">
              <a:spcAft>
                <a:spcPts val="1000"/>
              </a:spcAft>
            </a:pPr>
            <a:r>
              <a:rPr sz="1500" b="1">
                <a:solidFill>
                  <a:srgbClr val="1E3A8A"/>
                </a:solidFill>
                <a:latin typeface="Arial"/>
              </a:rPr>
              <a:t>END-TO-END PIPELINE &amp; ALGORITHMIC FLOW</a:t>
            </a:r>
          </a:p>
          <a:p>
            <a:r>
              <a:rPr sz="1200" b="1">
                <a:solidFill>
                  <a:srgbClr val="1E3A8A"/>
                </a:solidFill>
                <a:latin typeface="Arial"/>
              </a:rPr>
              <a:t>1. Ingestion &amp; Preprocessing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0F172A"/>
                </a:solidFill>
                <a:latin typeface="Arial"/>
              </a:rPr>
              <a:t>Web Audio API / SIP stream capture -&gt; Resampled to 16kHz mono, RMS energy threshold check, STFT forensic spectrogram generation.</a:t>
            </a:r>
          </a:p>
          <a:p>
            <a:r>
              <a:rPr sz="1200" b="1">
                <a:solidFill>
                  <a:srgbClr val="1E3A8A"/>
                </a:solidFill>
                <a:latin typeface="Arial"/>
              </a:rPr>
              <a:t>2. Parallel Dual-Stream ML Inference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0F172A"/>
                </a:solidFill>
                <a:latin typeface="Arial"/>
              </a:rPr>
              <a:t>• Speaker Stream: ECAPA-TDNN computes 192-d acoustic embeddings (Cosine similarity vs enrolled profile).</a:t>
            </a:r>
            <a:br/>
            <a:r>
              <a:t>• Anti-Spoof Stream: Analyzes neural vocoder cutoff (&gt;7.5 kHz), prosody variance, and cycle jitter.</a:t>
            </a:r>
          </a:p>
          <a:p>
            <a:r>
              <a:rPr sz="1200" b="1">
                <a:solidFill>
                  <a:srgbClr val="1E3A8A"/>
                </a:solidFill>
                <a:latin typeface="Arial"/>
              </a:rPr>
              <a:t>3. Deterministic Risk Engine &amp; Impersonation Rule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0F172A"/>
                </a:solidFill>
                <a:latin typeface="Arial"/>
              </a:rPr>
              <a:t>Calculates composite score: Risk = (50% Synthetic) + (20% Anomalies) + (30% Mismatch).</a:t>
            </a:r>
            <a:br/>
            <a:r>
              <a:t>CRITICAL RULE: If Synthetic &gt;= 70% AND Speaker Match &gt;= 70% -&gt; Escalates to CRITICAL (&gt;85).</a:t>
            </a:r>
          </a:p>
          <a:p>
            <a:r>
              <a:rPr sz="1200" b="1">
                <a:solidFill>
                  <a:srgbClr val="0D9488"/>
                </a:solidFill>
                <a:latin typeface="Arial"/>
              </a:rPr>
              <a:t>4. Active Defense &amp; Forensic Observability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0F172A"/>
                </a:solidFill>
                <a:latin typeface="Arial"/>
              </a:rPr>
              <a:t>Zero-trust verification challenge (+35 risk escalation on fail), AI Security Analyst deterministic explanations, and instant incident forensic PDF export.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E3A8A"/>
                </a:solidFill>
                <a:latin typeface="Arial"/>
              </a:rPr>
              <a:t>FEASIBILITY, RISK MITIGATION &amp;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t>NeuralGuards</a:t>
            </a: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410" name="Rounded Rectangle 17409"/>
          <p:cNvSpPr/>
          <p:nvPr/>
        </p:nvSpPr>
        <p:spPr>
          <a:xfrm>
            <a:off x="731520" y="1417320"/>
            <a:ext cx="5120640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spcAft>
                <a:spcPts val="1200"/>
              </a:spcAft>
            </a:pPr>
            <a:r>
              <a:rPr sz="1500" b="1">
                <a:solidFill>
                  <a:srgbClr val="1E3A8A"/>
                </a:solidFill>
                <a:latin typeface="Arial"/>
              </a:rPr>
              <a:t>TECHNICAL &amp; OPERATIONAL FEASIBILITY</a:t>
            </a:r>
          </a:p>
          <a:p>
            <a:r>
              <a:rPr sz="1200" b="1">
                <a:solidFill>
                  <a:srgbClr val="0F172A"/>
                </a:solidFill>
                <a:latin typeface="Arial"/>
              </a:rPr>
              <a:t>Edge &amp; Cloud Deployability: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334155"/>
                </a:solidFill>
                <a:latin typeface="Arial"/>
              </a:rPr>
              <a:t>Runs locally on CPU/Edge hardware without costly GPU clusters. SpeechBrain ECAPA-TDNN executes in under 80ms inference latency.</a:t>
            </a:r>
          </a:p>
          <a:p>
            <a:r>
              <a:rPr sz="1200" b="1">
                <a:solidFill>
                  <a:srgbClr val="0F172A"/>
                </a:solidFill>
                <a:latin typeface="Arial"/>
              </a:rPr>
              <a:t>Zero Cloud API Reliance: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334155"/>
                </a:solidFill>
                <a:latin typeface="Arial"/>
              </a:rPr>
              <a:t>Unlike wrappers around commercial LLMs, VoiceGuard's core pipeline is 100% offline capable. No subscription fees, zero privacy leaks of voice biometrics.</a:t>
            </a:r>
          </a:p>
          <a:p>
            <a:r>
              <a:rPr sz="1200" b="1">
                <a:solidFill>
                  <a:srgbClr val="0F172A"/>
                </a:solidFill>
                <a:latin typeface="Arial"/>
              </a:rPr>
              <a:t>Seamless Telephony Integration: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334155"/>
                </a:solidFill>
                <a:latin typeface="Arial"/>
              </a:rPr>
              <a:t>Standard audio streaming architecture easily bridges to enterprise SIP PBX, VoIP gateways (Asterisk/FreeSWITCH), and mobile call dialers.</a:t>
            </a:r>
          </a:p>
          <a:p>
            <a:r>
              <a:rPr sz="1200" b="1">
                <a:solidFill>
                  <a:srgbClr val="0F172A"/>
                </a:solidFill>
                <a:latin typeface="Arial"/>
              </a:rPr>
              <a:t>Tested Codebase Completeness: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334155"/>
                </a:solidFill>
                <a:latin typeface="Arial"/>
              </a:rPr>
              <a:t>20 completed PR phases with 100% test coverage across resilience, edge audio corruption, synthetic degradation, and failover scenarios.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6126480" y="1417320"/>
            <a:ext cx="530352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spcAft>
                <a:spcPts val="1000"/>
              </a:spcAft>
            </a:pPr>
            <a:r>
              <a:rPr sz="1500" b="1">
                <a:solidFill>
                  <a:srgbClr val="B91C1C"/>
                </a:solidFill>
                <a:latin typeface="Arial"/>
              </a:rPr>
              <a:t>POTENTIAL RISKS &amp; MITIGATION STRATEGIES</a:t>
            </a:r>
          </a:p>
          <a:p>
            <a:r>
              <a:rPr sz="1200" b="1">
                <a:solidFill>
                  <a:srgbClr val="B91C1C"/>
                </a:solidFill>
                <a:latin typeface="Arial"/>
              </a:rPr>
              <a:t>• Noisy Backgrounds &amp; Lossy Codecs (PSTN)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0F172A"/>
                </a:solidFill>
                <a:latin typeface="Arial"/>
              </a:rPr>
              <a:t>   Mitigation: 16kHz resampler, bandpass acoustic filtering, and RMS energy thresholds reject low-SNR audio before inference.</a:t>
            </a:r>
          </a:p>
          <a:p>
            <a:r>
              <a:rPr sz="1200" b="1">
                <a:solidFill>
                  <a:srgbClr val="B91C1C"/>
                </a:solidFill>
                <a:latin typeface="Arial"/>
              </a:rPr>
              <a:t>• Adversarial Zero-Shot AI Clones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0F172A"/>
                </a:solidFill>
                <a:latin typeface="Arial"/>
              </a:rPr>
              <a:t>   Mitigation: Dual verification prevents spoofed matches; active phonetic challenge trips AI latency &amp; pronunciation artifacts.</a:t>
            </a:r>
          </a:p>
          <a:p>
            <a:r>
              <a:rPr sz="1200" b="1">
                <a:solidFill>
                  <a:srgbClr val="B91C1C"/>
                </a:solidFill>
                <a:latin typeface="Arial"/>
              </a:rPr>
              <a:t>• Model Degradation / Inference Timeout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0F172A"/>
                </a:solidFill>
                <a:latin typeface="Arial"/>
              </a:rPr>
              <a:t>   Mitigation: Implemented PARTIAL_ANALYSIS fallback flags confidence drop without halting or crashing the call flow.</a:t>
            </a:r>
          </a:p>
          <a:p>
            <a:r>
              <a:rPr sz="1200" b="1">
                <a:solidFill>
                  <a:srgbClr val="B91C1C"/>
                </a:solidFill>
                <a:latin typeface="Arial"/>
              </a:rPr>
              <a:t>• AI Analyst Hallucination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0F172A"/>
                </a:solidFill>
                <a:latin typeface="Arial"/>
              </a:rPr>
              <a:t>   Mitigation: Strict deterministic rule-based explainability layer with &lt;=3.0s timeout ensures explanations cite verified acoustic metrics.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E3A8A"/>
                </a:solidFill>
                <a:latin typeface="Arial"/>
              </a:rPr>
              <a:t>SOCIETAL, ECONOMIC &amp; ENTERPRISE IMPACT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t>NeuralGuards</a:t>
            </a: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410" name="Rounded Rectangle 17409"/>
          <p:cNvSpPr/>
          <p:nvPr/>
        </p:nvSpPr>
        <p:spPr>
          <a:xfrm>
            <a:off x="731520" y="1417320"/>
            <a:ext cx="5120640" cy="224028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ctr"/>
          <a:lstStyle/>
          <a:p>
            <a:pPr algn="ctr"/>
            <a:r>
              <a:rPr sz="1400" b="1">
                <a:solidFill>
                  <a:srgbClr val="1E3A8A"/>
                </a:solidFill>
                <a:latin typeface="Arial"/>
              </a:rPr>
              <a:t>BANKING &amp; FINTECH PROTECTION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334155"/>
                </a:solidFill>
                <a:latin typeface="Arial"/>
              </a:rPr>
              <a:t>Eliminating Voice-OTP Fraud</a:t>
            </a:r>
          </a:p>
          <a:p>
            <a:r>
              <a:rPr sz="1200" b="0">
                <a:solidFill>
                  <a:srgbClr val="0F172A"/>
                </a:solidFill>
                <a:latin typeface="Arial"/>
              </a:rPr>
              <a:t>Protects call-center wire transfers, wealth management authorizations, and voice banking. Completely eliminates synthetic voice bypass on account resets.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6126480" y="1417320"/>
            <a:ext cx="5120640" cy="22402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ctr"/>
          <a:lstStyle/>
          <a:p>
            <a:pPr algn="ctr"/>
            <a:r>
              <a:rPr sz="1400" b="1">
                <a:solidFill>
                  <a:srgbClr val="B91C1C"/>
                </a:solidFill>
                <a:latin typeface="Arial"/>
              </a:rPr>
              <a:t>ENTERPRISE &amp; CEO FRAUD DEFENSE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334155"/>
                </a:solidFill>
                <a:latin typeface="Arial"/>
              </a:rPr>
              <a:t>Stop Urgent Executive Whaling</a:t>
            </a:r>
          </a:p>
          <a:p>
            <a:r>
              <a:rPr sz="1200" b="0">
                <a:solidFill>
                  <a:srgbClr val="0F172A"/>
                </a:solidFill>
                <a:latin typeface="Arial"/>
              </a:rPr>
              <a:t>Neutralizes synthetic executive impersonation attacks targeting CFOs, finance teams, and IT helpdesks for credentials, fund transfers, and secrets.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731520" y="3840480"/>
            <a:ext cx="5120640" cy="224028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ctr"/>
          <a:lstStyle/>
          <a:p>
            <a:pPr algn="ctr"/>
            <a:r>
              <a:rPr sz="1400" b="1">
                <a:solidFill>
                  <a:srgbClr val="15803D"/>
                </a:solidFill>
                <a:latin typeface="Arial"/>
              </a:rPr>
              <a:t>CITIZEN PROTECTION &amp; SENIOR SAFETY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334155"/>
                </a:solidFill>
                <a:latin typeface="Arial"/>
              </a:rPr>
              <a:t>Preventing 'Kidnapping' &amp; Family Scams</a:t>
            </a:r>
          </a:p>
          <a:p>
            <a:r>
              <a:rPr sz="1200" b="0">
                <a:solidFill>
                  <a:srgbClr val="0F172A"/>
                </a:solidFill>
                <a:latin typeface="Arial"/>
              </a:rPr>
              <a:t>Shields citizens from distressing AI extortion and cloned-relative emergency scams. Restores fundamental trust in personal and telecommunication networks.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6126480" y="3840480"/>
            <a:ext cx="5120640" cy="224028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ctr"/>
          <a:lstStyle/>
          <a:p>
            <a:pPr algn="ctr"/>
            <a:r>
              <a:rPr sz="1400" b="1">
                <a:solidFill>
                  <a:srgbClr val="0D9488"/>
                </a:solidFill>
                <a:latin typeface="Arial"/>
              </a:rPr>
              <a:t>LAW ENFORCEMENT &amp; FORENSICS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334155"/>
                </a:solidFill>
                <a:latin typeface="Arial"/>
              </a:rPr>
              <a:t>Admissible Incident Intelligence</a:t>
            </a:r>
          </a:p>
          <a:p>
            <a:r>
              <a:rPr sz="1200" b="0">
                <a:solidFill>
                  <a:srgbClr val="0F172A"/>
                </a:solidFill>
                <a:latin typeface="Arial"/>
              </a:rPr>
              <a:t>Generates court-ready cryptographic incident reports with acoustic spectrogram signatures, timeline traces, and telemetry history for cybercrime investigation.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E3A8A"/>
                </a:solidFill>
                <a:latin typeface="Arial"/>
              </a:rPr>
              <a:t>RESEARCH, BENCHMARKS &amp;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t>NeuralGuards</a:t>
            </a:r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410" name="Rounded Rectangle 17409"/>
          <p:cNvSpPr/>
          <p:nvPr/>
        </p:nvSpPr>
        <p:spPr>
          <a:xfrm>
            <a:off x="731520" y="1417320"/>
            <a:ext cx="51206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spcAft>
                <a:spcPts val="1000"/>
              </a:spcAft>
            </a:pPr>
            <a:r>
              <a:rPr sz="1500" b="1">
                <a:solidFill>
                  <a:srgbClr val="1E3A8A"/>
                </a:solidFill>
                <a:latin typeface="Arial"/>
              </a:rPr>
              <a:t>ACADEMIC LITERATURE &amp; PEER RESEARCH</a:t>
            </a:r>
          </a:p>
          <a:p>
            <a:r>
              <a:rPr sz="1200" b="1">
                <a:solidFill>
                  <a:srgbClr val="0F172A"/>
                </a:solidFill>
                <a:latin typeface="Arial"/>
              </a:rPr>
              <a:t>• ECAPA-TDNN Architecture for Speaker Verification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334155"/>
                </a:solidFill>
                <a:latin typeface="Arial"/>
              </a:rPr>
              <a:t>Desplanques, B., Thienpondt, J., Demuynck, K. (Interspeech 2020) — Emphasized Channel Attention, Propagation and Aggregation in TDNN.</a:t>
            </a:r>
          </a:p>
          <a:p>
            <a:r>
              <a:rPr sz="1200" b="1">
                <a:solidFill>
                  <a:srgbClr val="0F172A"/>
                </a:solidFill>
                <a:latin typeface="Arial"/>
              </a:rPr>
              <a:t>• AASIST: Audio Anti-Spoofing Integrated Spectro-Temporal Graph Attention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334155"/>
                </a:solidFill>
                <a:latin typeface="Arial"/>
              </a:rPr>
              <a:t>Jung, J., et al. (Interspeech 2022) — Pretrained graph attention networks on ASVspoof 2019/2021 logical access benchmarks.</a:t>
            </a:r>
          </a:p>
          <a:p>
            <a:r>
              <a:rPr sz="1200" b="1">
                <a:solidFill>
                  <a:srgbClr val="0F172A"/>
                </a:solidFill>
                <a:latin typeface="Arial"/>
              </a:rPr>
              <a:t>• SpeechBrain: A General-Purpose Speech Toolkit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334155"/>
                </a:solidFill>
                <a:latin typeface="Arial"/>
              </a:rPr>
              <a:t>Ravanelli, M., et al. (ArXiv 2021) — PyTorch-based state-of-the-art open source speaker recognition framework.</a:t>
            </a:r>
          </a:p>
          <a:p>
            <a:r>
              <a:rPr sz="1200" b="1">
                <a:solidFill>
                  <a:srgbClr val="0F172A"/>
                </a:solidFill>
                <a:latin typeface="Arial"/>
              </a:rPr>
              <a:t>• Acoustic Artifacts in Modern Neural Vocoders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334155"/>
                </a:solidFill>
                <a:latin typeface="Arial"/>
              </a:rPr>
              <a:t>Analysis of spectral discontinuity, roll-off, and phase inconsistencies in HiFi-GAN, WaveGlow, and Bark voice synthesis engines.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6126480" y="1417320"/>
            <a:ext cx="5303520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spcAft>
                <a:spcPts val="1000"/>
              </a:spcAft>
            </a:pPr>
            <a:r>
              <a:rPr sz="1500" b="1">
                <a:solidFill>
                  <a:srgbClr val="0D9488"/>
                </a:solidFill>
                <a:latin typeface="Arial"/>
              </a:rPr>
              <a:t>STANDARDS, REPOSITORIES &amp; DATASETS</a:t>
            </a:r>
          </a:p>
          <a:p>
            <a:r>
              <a:rPr sz="1200" b="1">
                <a:solidFill>
                  <a:srgbClr val="0F172A"/>
                </a:solidFill>
                <a:latin typeface="Arial"/>
              </a:rPr>
              <a:t>• ASVspoof Challenge (2019 / 2021)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334155"/>
                </a:solidFill>
                <a:latin typeface="Arial"/>
              </a:rPr>
              <a:t>International standard evaluation for logical access (LA) synthetic and cloned speech detection protocols.</a:t>
            </a:r>
          </a:p>
          <a:p>
            <a:r>
              <a:rPr sz="1200" b="1">
                <a:solidFill>
                  <a:srgbClr val="0F172A"/>
                </a:solidFill>
                <a:latin typeface="Arial"/>
              </a:rPr>
              <a:t>• VoxCeleb 1 &amp; 2 Datasets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334155"/>
                </a:solidFill>
                <a:latin typeface="Arial"/>
              </a:rPr>
              <a:t>Large-scale audio dataset containing over 1 million utterances for robust real-world speaker identification benchmarks.</a:t>
            </a:r>
          </a:p>
          <a:p>
            <a:r>
              <a:rPr sz="1200" b="1">
                <a:solidFill>
                  <a:srgbClr val="0F172A"/>
                </a:solidFill>
                <a:latin typeface="Arial"/>
              </a:rPr>
              <a:t>• VoiceGuard Verified Codebase &amp; Artifacts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334155"/>
                </a:solidFill>
                <a:latin typeface="Arial"/>
              </a:rPr>
              <a:t>Complete tested implementation across 20 PRs including `/backend`, `/frontend`, `/ml`, and interactive SOC dashboard.</a:t>
            </a:r>
          </a:p>
          <a:p>
            <a:r>
              <a:rPr sz="1200" b="1">
                <a:solidFill>
                  <a:srgbClr val="0F172A"/>
                </a:solidFill>
                <a:latin typeface="Arial"/>
              </a:rPr>
              <a:t>• Telecommunication Security RFC Standards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334155"/>
                </a:solidFill>
                <a:latin typeface="Arial"/>
              </a:rPr>
              <a:t>Adherence to IETF RFC 3261 (SIP signaling) and STIR/SHAKEN voice identity verification paradigms.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1109</Words>
  <Application>Microsoft Office PowerPoint</Application>
  <PresentationFormat>Widescreen</PresentationFormat>
  <Paragraphs>116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VOICEGUARD AI Real-Time Voice Cloning Impersonation Detection &amp; Prevention</vt:lpstr>
      <vt:lpstr>VOICEGUARD: REAL-TIME VOICE IMPERSONATION DEFENSE</vt:lpstr>
      <vt:lpstr>TECHNICAL APPROACH &amp; SYSTEM ARCHITECTURE</vt:lpstr>
      <vt:lpstr>FEASIBILITY, RISK MITIGATION &amp; VIABILITY</vt:lpstr>
      <vt:lpstr>SOCIETAL, ECONOMIC &amp; ENTERPRISE IMPACT</vt:lpstr>
      <vt:lpstr>RESEARCH, BENCHMARKS &amp;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Abhimanyu Goyal</cp:lastModifiedBy>
  <cp:revision>148</cp:revision>
  <dcterms:created xsi:type="dcterms:W3CDTF">2013-12-12T18:46:50Z</dcterms:created>
  <dcterms:modified xsi:type="dcterms:W3CDTF">2026-09-03T17:35:12Z</dcterms:modified>
  <cp:category/>
</cp:coreProperties>
</file>